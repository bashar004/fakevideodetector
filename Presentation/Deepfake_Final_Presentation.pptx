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00C2FF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00C2FF"/>
                </a:solidFill>
                <a:latin typeface="Arial" panose="020B0604020202020204"/>
              </a:rPr>
              <a:t>Accuracy Progress Over 30 Epochs</a:t>
            </a:r>
            <a:endParaRPr sz="1200" b="0" i="0" u="none" strike="noStrike">
              <a:solidFill>
                <a:srgbClr val="00C2FF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 (%)</c:v>
                </c:pt>
              </c:strCache>
            </c:strRef>
          </c:tx>
          <c:spPr>
            <a:ln w="38100" cap="flat" cmpd="sng" algn="ctr">
              <a:solidFill>
                <a:srgbClr val="00C2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FF"/>
              </a:solidFill>
              <a:ln w="9525" cap="flat" cmpd="sng" algn="ctr">
                <a:solidFill>
                  <a:srgbClr val="00C2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GB" sz="9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Ep 1</c:v>
                </c:pt>
                <c:pt idx="1">
                  <c:v>Ep 5</c:v>
                </c:pt>
                <c:pt idx="2">
                  <c:v>Ep 10</c:v>
                </c:pt>
                <c:pt idx="3">
                  <c:v>Ep 15</c:v>
                </c:pt>
                <c:pt idx="4">
                  <c:v>Ep 20</c:v>
                </c:pt>
                <c:pt idx="5">
                  <c:v>Ep 26</c:v>
                </c:pt>
                <c:pt idx="6">
                  <c:v>Ep 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55.66</c:v>
                </c:pt>
                <c:pt idx="1">
                  <c:v>75.75</c:v>
                </c:pt>
                <c:pt idx="2">
                  <c:v>84.84</c:v>
                </c:pt>
                <c:pt idx="3">
                  <c:v>87.93</c:v>
                </c:pt>
                <c:pt idx="4">
                  <c:v>90.17</c:v>
                </c:pt>
                <c:pt idx="5">
                  <c:v>92.33</c:v>
                </c:pt>
                <c:pt idx="6">
                  <c:v>91.84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8A9B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 cmpd="sng" algn="ctr">
              <a:solidFill>
                <a:srgbClr val="1E3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GB" sz="1200" b="0" i="0" u="none" strike="noStrike" kern="1200" baseline="0">
                <a:solidFill>
                  <a:srgbClr val="8A9BBD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49b37df-f6e6-4b90-8903-f454b00fc3c8}"/>
      </c:ext>
    </c:extLst>
  </c:chart>
  <c:spPr>
    <a:solidFill>
      <a:srgbClr val="0D1B3E"/>
    </a:solidFill>
    <a:ln>
      <a:noFill/>
    </a:ln>
    <a:effectLst/>
  </c:spPr>
  <c:txPr>
    <a:bodyPr/>
    <a:lstStyle/>
    <a:p>
      <a:pPr>
        <a:defRPr lang="en-GB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463040"/>
            <a:ext cx="4572000" cy="4572000"/>
          </a:xfrm>
          <a:prstGeom prst="ellipse">
            <a:avLst/>
          </a:prstGeom>
          <a:solidFill>
            <a:srgbClr val="1A56C4">
              <a:alpha val="15000"/>
            </a:srgbClr>
          </a:solidFill>
          <a:ln w="12700">
            <a:solidFill>
              <a:srgbClr val="1A56C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0C2FF">
              <a:alpha val="10000"/>
            </a:srgbClr>
          </a:solidFill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1A56C4">
              <a:alpha val="12000"/>
            </a:srgbClr>
          </a:solidFill>
          <a:ln w="12700">
            <a:solidFill>
              <a:srgbClr val="1A56C4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84048"/>
            <a:ext cx="3017520" cy="329184"/>
          </a:xfrm>
          <a:prstGeom prst="roundRect">
            <a:avLst>
              <a:gd name="adj" fmla="val 13889"/>
            </a:avLst>
          </a:prstGeom>
          <a:solidFill>
            <a:srgbClr val="1A56C4">
              <a:alpha val="7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8404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2FF"/>
                </a:solidFill>
              </a:rPr>
              <a:t>AI &amp; DEEP LEARNING RESEARCH PROJECT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Deepfake Video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2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System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BD"/>
                </a:solidFill>
              </a:rPr>
              <a:t>Using EfficientNet-B4  ·  Fast Fourier Transform  ·  OpenCV Face Detection  ·  DFD Dataset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944368"/>
            <a:ext cx="5486400" cy="0"/>
          </a:xfrm>
          <a:prstGeom prst="line">
            <a:avLst/>
          </a:prstGeom>
          <a:noFill/>
          <a:ln w="12700">
            <a:solidFill>
              <a:srgbClr val="1A56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090672"/>
            <a:ext cx="2697480" cy="146304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145536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92.33%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20040" y="381304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FF"/>
                </a:solidFill>
              </a:rPr>
              <a:t>Training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059936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D"/>
                </a:solidFill>
              </a:rPr>
              <a:t>Best at Epoch 26/30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090672"/>
            <a:ext cx="2697480" cy="14630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145536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2FF"/>
                </a:solidFill>
              </a:rPr>
              <a:t>86.32%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00400" y="381304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059936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D"/>
                </a:solidFill>
              </a:rPr>
              <a:t>On unseen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3090672"/>
            <a:ext cx="2697480" cy="1463040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0" y="3145536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2FF"/>
                </a:solidFill>
              </a:rPr>
              <a:t>0.9493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943600" y="3813048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AUC-ROC 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4059936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D"/>
                </a:solidFill>
              </a:rPr>
              <a:t>Near-perfect (max=1)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2880" y="4901184"/>
            <a:ext cx="8778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BBD"/>
                </a:solidFill>
              </a:rPr>
              <a:t>Bashar  ·  Wadea  ·  Ahmad  ·  Yarmouk University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2FF"/>
                </a:solidFill>
              </a:rPr>
              <a:t>WHAT IS A DEEPFAKE?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D"/>
                </a:solidFill>
              </a:rPr>
              <a:t>02 /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Definition: </a:t>
            </a:r>
            <a:r>
              <a:rPr lang="en-US" sz="1300" dirty="0">
                <a:solidFill>
                  <a:srgbClr val="FFFFFF"/>
                </a:solidFill>
              </a:rPr>
              <a:t>A deepfake is a fake video created by AI where a person's face is replaced or altered. The result looks so real that humans cannot easily tell the difference.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221284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3E"/>
                </a:solidFill>
              </a:rPr>
              <a:t>How Are Deepfakes Created?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2542032"/>
            <a:ext cx="685800" cy="685800"/>
          </a:xfrm>
          <a:prstGeom prst="ellipse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254203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3310128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Collect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</a:rPr>
              <a:t>Thousands of photos and videos of the target person are collected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90672" y="34747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56C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20040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8C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2542032"/>
            <a:ext cx="685800" cy="68580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54203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10128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Train AI (GAN)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3712464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</a:rPr>
              <a:t>A GAN (Generative AI) learns to copy the person's 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34747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C4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2670048"/>
            <a:ext cx="2788920" cy="2212848"/>
          </a:xfrm>
          <a:prstGeom prst="rect">
            <a:avLst/>
          </a:prstGeom>
          <a:solidFill>
            <a:srgbClr val="FFFFFF"/>
          </a:solidFill>
          <a:ln w="25400">
            <a:solidFill>
              <a:srgbClr val="FF4C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78040" y="2542032"/>
            <a:ext cx="685800" cy="685800"/>
          </a:xfrm>
          <a:prstGeom prst="ellipse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54203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0" y="3310128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3E"/>
                </a:solidFill>
              </a:rPr>
              <a:t>Generate Fake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712464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</a:rPr>
              <a:t>AI replaces the face in a video — it looks completely real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45152"/>
            <a:ext cx="8595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D"/>
                </a:solidFill>
              </a:rPr>
              <a:t>GAN = Generative Adversarial Network — Two AI models compete: one creates fakes, one tries to detect them. The result is very realistic deepfakes.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WHY IS THIS A PROBLEM?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0D0FF"/>
                </a:solidFill>
              </a:rPr>
              <a:t>03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Deepfakes Are Dangerous Because...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FF4C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600200"/>
            <a:ext cx="2816352" cy="54864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📰  Fake News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039112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Politicians or celebrities can be shown saying things they never said. This spreads misinformation very quickly.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FF8C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600200"/>
            <a:ext cx="2816352" cy="548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691640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🎭  Identity Fraud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64408" y="2039112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Someone can impersonate you in a video to steal money, access accounts, or damage your reputation.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600200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600200"/>
            <a:ext cx="2816352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691640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Legal Problems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2039112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People are wrongly accused using fake video evidence. Courts struggle to verify video authenticity.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172968"/>
            <a:ext cx="2816352" cy="54864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644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Trust Crisis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" y="3611880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When people can't trust videos anymore, it becomes hard to tell what is real and what is fake online.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3172968"/>
            <a:ext cx="2816352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32644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Business Fraud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64408" y="3611880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Fake videos of CEOs can manipulate stock markets or trick employees into transferring money.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3172968"/>
            <a:ext cx="2816352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00D6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17336" y="3172968"/>
            <a:ext cx="2816352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8776" y="3264408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Privacy Threat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08776" y="3611880"/>
            <a:ext cx="263347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Anyone's face can be put in inappropriate videos without their consent, causing serious harm.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This is why we need an automated system that can detect deepfake videos quickly and accurately!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2FF"/>
                </a:solidFill>
              </a:rPr>
              <a:t>DATASET — DFD (DEEP FAKE DETECTION)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D"/>
                </a:solidFill>
              </a:rPr>
              <a:t>04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3E"/>
                </a:solidFill>
              </a:rPr>
              <a:t>What is the DFD Dataset?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72768"/>
            <a:ext cx="3931920" cy="13533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Created by: </a:t>
            </a:r>
            <a:r>
              <a:rPr lang="en-US" sz="1100" dirty="0">
                <a:solidFill>
                  <a:srgbClr val="8A9BBD"/>
                </a:solidFill>
              </a:rPr>
              <a:t>Google &amp; JigSaw (2019)
</a:t>
            </a:r>
            <a:r>
              <a:rPr lang="en-US" sz="1100" b="1" dirty="0">
                <a:solidFill>
                  <a:srgbClr val="0D1B3E"/>
                </a:solidFill>
              </a:rPr>
              <a:t>Source: </a:t>
            </a:r>
            <a:r>
              <a:rPr lang="en-US" sz="1100" dirty="0">
                <a:solidFill>
                  <a:srgbClr val="8A9BBD"/>
                </a:solidFill>
              </a:rPr>
              <a:t>FaceForensics Server
</a:t>
            </a:r>
            <a:r>
              <a:rPr lang="en-US" sz="1100" b="1" dirty="0">
                <a:solidFill>
                  <a:srgbClr val="0D1B3E"/>
                </a:solidFill>
              </a:rPr>
              <a:t>Type: </a:t>
            </a:r>
            <a:r>
              <a:rPr lang="en-US" sz="1100" dirty="0">
                <a:solidFill>
                  <a:srgbClr val="8A9BBD"/>
                </a:solidFill>
              </a:rPr>
              <a:t>Real videos + AI deepfake videos
</a:t>
            </a:r>
            <a:r>
              <a:rPr lang="en-US" sz="1100" b="1" dirty="0">
                <a:solidFill>
                  <a:srgbClr val="0D1B3E"/>
                </a:solidFill>
              </a:rPr>
              <a:t>Purpose: </a:t>
            </a:r>
            <a:r>
              <a:rPr lang="en-US" sz="1100" dirty="0">
                <a:solidFill>
                  <a:srgbClr val="8A9BBD"/>
                </a:solidFill>
              </a:rPr>
              <a:t>Train models to detect deepfakes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09067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Why did we choose DFD?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47472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6C4"/>
                </a:solidFill>
              </a:rPr>
              <a:t>✅  High quality real and fake videos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8221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D"/>
                </a:solidFill>
              </a:rPr>
              <a:t>✅  Created by Google — very reliable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416966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D"/>
                </a:solidFill>
              </a:rPr>
              <a:t>✅  Free to use for research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451713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D"/>
                </a:solidFill>
              </a:rPr>
              <a:t>✅  Diverse people and scenarios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60520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11556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2FF"/>
                </a:solidFill>
              </a:rPr>
              <a:t>Dataset Numbers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773168" y="1600200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655064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68F"/>
                </a:solidFill>
              </a:rPr>
              <a:t>363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73168" y="2240280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 Videos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46888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Original people — authentic videos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48272" y="1600200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1655064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4C61"/>
                </a:solidFill>
              </a:rPr>
              <a:t>941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48272" y="2240280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Fake Videos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48272" y="246888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AI-generated deepfake videos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73168" y="2944368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2999232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2FF"/>
                </a:solidFill>
              </a:rPr>
              <a:t>1,304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73168" y="358444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Videos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81304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Combined dataset used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48272" y="2944368"/>
            <a:ext cx="1874520" cy="1170432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48272" y="2999232"/>
            <a:ext cx="18745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8C42"/>
                </a:solidFill>
              </a:rPr>
              <a:t>7,200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748272" y="3584448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Face Frames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48272" y="3813048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10 frames extracted per video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73168" y="4206240"/>
            <a:ext cx="3858768" cy="621792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4206240"/>
            <a:ext cx="3858768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</a:rPr>
              <a:t>Split: </a:t>
            </a:r>
            <a:r>
              <a:rPr lang="en-US" sz="1400" b="1" dirty="0">
                <a:solidFill>
                  <a:srgbClr val="00C2FF"/>
                </a:solidFill>
              </a:rPr>
              <a:t>80%</a:t>
            </a:r>
            <a:r>
              <a:rPr lang="en-US" sz="1100" dirty="0">
                <a:solidFill>
                  <a:srgbClr val="8A9BBD"/>
                </a:solidFill>
              </a:rPr>
              <a:t> Training  +  </a:t>
            </a:r>
            <a:r>
              <a:rPr lang="en-US" sz="1400" b="1" dirty="0">
                <a:solidFill>
                  <a:srgbClr val="FF8C42"/>
                </a:solidFill>
              </a:rPr>
              <a:t>20%</a:t>
            </a:r>
            <a:r>
              <a:rPr lang="en-US" sz="1000" dirty="0">
                <a:solidFill>
                  <a:srgbClr val="8A9BBD"/>
                </a:solidFill>
              </a:rPr>
              <a:t> Testing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A9BBD"/>
                </a:solidFill>
              </a:rPr>
              <a:t>Stratified — keeps real/fake ratio balanced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OUR APPROACH — DETECTION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0D0FF"/>
                </a:solidFill>
              </a:rPr>
              <a:t>05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How Our System Detects Deepfakes — Step by Step: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463040"/>
            <a:ext cx="1664208" cy="438912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463040"/>
            <a:ext cx="16642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" y="1947672"/>
            <a:ext cx="1664208" cy="62179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33472"/>
            <a:ext cx="1444752" cy="0"/>
          </a:xfrm>
          <a:prstGeom prst="line">
            <a:avLst/>
          </a:prstGeom>
          <a:noFill/>
          <a:ln w="12700">
            <a:solidFill>
              <a:srgbClr val="1A56C4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268833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C4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" y="2889504"/>
            <a:ext cx="151790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Extract 10 evenly spaced frames from each video instead of analyzing all frames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675888"/>
            <a:ext cx="1444752" cy="0"/>
          </a:xfrm>
          <a:prstGeom prst="line">
            <a:avLst/>
          </a:prstGeom>
          <a:noFill/>
          <a:ln w="12700">
            <a:solidFill>
              <a:srgbClr val="1A56C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3730752"/>
            <a:ext cx="1517904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</a:rPr>
              <a:t>Why: 10 frames is enough to represent the whole video and saves time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47088" y="2212848"/>
            <a:ext cx="91440" cy="0"/>
          </a:xfrm>
          <a:prstGeom prst="line">
            <a:avLst/>
          </a:prstGeom>
          <a:noFill/>
          <a:ln w="25400">
            <a:solidFill>
              <a:srgbClr val="1A5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767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00C2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47672" y="1463040"/>
            <a:ext cx="1664208" cy="4389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1463040"/>
            <a:ext cx="16642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47672" y="1947672"/>
            <a:ext cx="1664208" cy="62179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2633472"/>
            <a:ext cx="1444752" cy="0"/>
          </a:xfrm>
          <a:prstGeom prst="line">
            <a:avLst/>
          </a:prstGeom>
          <a:noFill/>
          <a:ln w="12700">
            <a:solidFill>
              <a:srgbClr val="00C2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268833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2FF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20824" y="2889504"/>
            <a:ext cx="151790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Use OpenCV to find and crop the face from each frame with 20% padding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57400" y="3675888"/>
            <a:ext cx="1444752" cy="0"/>
          </a:xfrm>
          <a:prstGeom prst="line">
            <a:avLst/>
          </a:prstGeom>
          <a:noFill/>
          <a:ln w="12700">
            <a:solidFill>
              <a:srgbClr val="00C2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20824" y="3730752"/>
            <a:ext cx="1517904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</a:rPr>
              <a:t>Why: Deepfakes only change the face — we focus on the most important area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30168" y="2212848"/>
            <a:ext cx="9144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075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FF8C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30752" y="1463040"/>
            <a:ext cx="1664208" cy="43891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1463040"/>
            <a:ext cx="16642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30752" y="1947672"/>
            <a:ext cx="1664208" cy="62179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FFT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Analysis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840480" y="2633472"/>
            <a:ext cx="1444752" cy="0"/>
          </a:xfrm>
          <a:prstGeom prst="line">
            <a:avLst/>
          </a:prstGeom>
          <a:noFill/>
          <a:ln w="12700">
            <a:solidFill>
              <a:srgbClr val="FF8C42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268833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C42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03904" y="2889504"/>
            <a:ext cx="151790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Apply Fast Fourier Transform — converts image to frequency domain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0" y="3675888"/>
            <a:ext cx="1444752" cy="0"/>
          </a:xfrm>
          <a:prstGeom prst="line">
            <a:avLst/>
          </a:prstGeom>
          <a:noFill/>
          <a:ln w="12700">
            <a:solidFill>
              <a:srgbClr val="FF8C42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03904" y="3730752"/>
            <a:ext cx="1517904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</a:rPr>
              <a:t>Why: Deepfakes leave invisible marks in frequencies that our model can detect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13248" y="2212848"/>
            <a:ext cx="91440" cy="0"/>
          </a:xfrm>
          <a:prstGeom prst="line">
            <a:avLst/>
          </a:prstGeom>
          <a:noFill/>
          <a:ln w="25400">
            <a:solidFill>
              <a:srgbClr val="FF8C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00D6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13832" y="1463040"/>
            <a:ext cx="1664208" cy="43891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1463040"/>
            <a:ext cx="16642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13832" y="1947672"/>
            <a:ext cx="1664208" cy="62179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EfficientNet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623560" y="2633472"/>
            <a:ext cx="1444752" cy="0"/>
          </a:xfrm>
          <a:prstGeom prst="line">
            <a:avLst/>
          </a:prstGeom>
          <a:noFill/>
          <a:ln w="12700">
            <a:solidFill>
              <a:srgbClr val="00D68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268833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68F"/>
                </a:solidFill>
              </a:rPr>
              <a:t>What we do: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86984" y="2889504"/>
            <a:ext cx="151790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Feed the processed face into EfficientNet-B4 (17.5M parameter AI model)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23560" y="3675888"/>
            <a:ext cx="1444752" cy="0"/>
          </a:xfrm>
          <a:prstGeom prst="line">
            <a:avLst/>
          </a:prstGeom>
          <a:noFill/>
          <a:ln w="12700">
            <a:solidFill>
              <a:srgbClr val="00D68F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6984" y="3730752"/>
            <a:ext cx="1517904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</a:rPr>
              <a:t>Why: EfficientNet is one of the best models for image classification tasks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196328" y="2212848"/>
            <a:ext cx="91440" cy="0"/>
          </a:xfrm>
          <a:prstGeom prst="line">
            <a:avLst/>
          </a:prstGeom>
          <a:noFill/>
          <a:ln w="25400">
            <a:solidFill>
              <a:srgbClr val="00D68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96912" y="1463040"/>
            <a:ext cx="1664208" cy="3337560"/>
          </a:xfrm>
          <a:prstGeom prst="rect">
            <a:avLst/>
          </a:prstGeom>
          <a:solidFill>
            <a:srgbClr val="162040"/>
          </a:solidFill>
          <a:ln w="25400">
            <a:solidFill>
              <a:srgbClr val="FF4C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1463040"/>
            <a:ext cx="1664208" cy="438912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96912" y="1463040"/>
            <a:ext cx="16642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296912" y="1947672"/>
            <a:ext cx="1664208" cy="621792"/>
          </a:xfrm>
          <a:prstGeom prst="rect">
            <a:avLst/>
          </a:prstGeom>
          <a:noFill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406640" y="2633472"/>
            <a:ext cx="1444752" cy="0"/>
          </a:xfrm>
          <a:prstGeom prst="line">
            <a:avLst/>
          </a:prstGeom>
          <a:noFill/>
          <a:ln w="12700">
            <a:solidFill>
              <a:srgbClr val="FF4C61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0064" y="2688336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C61"/>
                </a:solidFill>
              </a:rPr>
              <a:t>What we output: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70064" y="2889504"/>
            <a:ext cx="1517904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Model outputs probability: P(Real) vs P(Fake) for each frame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06640" y="3675888"/>
            <a:ext cx="1444752" cy="0"/>
          </a:xfrm>
          <a:prstGeom prst="line">
            <a:avLst/>
          </a:prstGeom>
          <a:noFill/>
          <a:ln w="12700">
            <a:solidFill>
              <a:srgbClr val="FF4C6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70064" y="3730752"/>
            <a:ext cx="1517904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D"/>
                </a:solidFill>
              </a:rPr>
              <a:t>Result: Average all frames → REAL or FAKE + confidence percentage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FF"/>
                </a:solidFill>
              </a:rPr>
              <a:t>Video → Frames → Face Crop → FFT → EfficientNet-B4 → REAL or FAKE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2FF"/>
                </a:solidFill>
              </a:rPr>
              <a:t>THE AI MODEL — EFFICIENTNET-B4 + FFT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D"/>
                </a:solidFill>
              </a:rPr>
              <a:t>06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3E"/>
                </a:solidFill>
              </a:rPr>
              <a:t>EfficientNet-B4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Created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Google Brain (2019)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84248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Parameters: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984248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17.5 Million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9736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Pre-trained 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59736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ImageNet (1M images)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35224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35224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Input size: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935224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224 × 224 pixels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410712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0712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Output: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410712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 classes: Real / Fake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160520" cy="420624"/>
          </a:xfrm>
          <a:prstGeom prst="rect">
            <a:avLst/>
          </a:prstGeom>
          <a:solidFill>
            <a:srgbClr val="EDF2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16459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BBD"/>
                </a:solidFill>
              </a:rPr>
              <a:t>Dropout: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886200"/>
            <a:ext cx="22860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0.3 (prevents memorizing)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07408"/>
            <a:ext cx="416052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407408"/>
            <a:ext cx="4160520" cy="530352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Why B4 not B0? → B4 is more powerful. It sees more subtle fake patterns that B0 would miss.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4160520" cy="39136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42"/>
                </a:solidFill>
              </a:rPr>
              <a:t>What is FFT?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00600" y="1444752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D"/>
                </a:solidFill>
              </a:rPr>
              <a:t>Fast Fourier Transform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1810512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10512"/>
            <a:ext cx="384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5232" y="1810512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Converts image from pixels (what you see) to frequency patterns (hidden data)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377440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377440"/>
            <a:ext cx="384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5232" y="237744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Deepfake AI leaves invisible patterns in frequency domain when generating fake faces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944368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44368"/>
            <a:ext cx="384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85232" y="2944368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We replace the Blue channel of each face image with the FFT result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3511296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11296"/>
            <a:ext cx="384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85232" y="3511296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Model sees BOTH the natural face AND the hidden frequency artifacts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078224"/>
            <a:ext cx="3931920" cy="502920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78224"/>
            <a:ext cx="3840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85232" y="4078224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This helps detect fakes that look perfect to human eyes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4645152"/>
            <a:ext cx="4160520" cy="320040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64515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8C42"/>
                </a:solidFill>
              </a:rPr>
              <a:t>RGB image: Red=Face  Green=Face  Blue=FFT Frequency 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TRAINING PROCESS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0D0FF"/>
                </a:solidFill>
              </a:rPr>
              <a:t>07 / 9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5156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858768"/>
            <a:ext cx="5029200" cy="530352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858768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D"/>
                </a:solidFill>
              </a:rPr>
              <a:t>Start: </a:t>
            </a:r>
            <a:r>
              <a:rPr lang="en-US" sz="1200" b="1" dirty="0">
                <a:solidFill>
                  <a:srgbClr val="FF4C61"/>
                </a:solidFill>
              </a:rPr>
              <a:t>55.66%  </a:t>
            </a:r>
            <a:r>
              <a:rPr lang="en-US" sz="1200" dirty="0">
                <a:solidFill>
                  <a:srgbClr val="8A9BBD"/>
                </a:solidFill>
              </a:rPr>
              <a:t>→  </a:t>
            </a:r>
            <a:r>
              <a:rPr lang="en-US" sz="1000" dirty="0">
                <a:solidFill>
                  <a:srgbClr val="8A9BBD"/>
                </a:solidFill>
              </a:rPr>
              <a:t>Peak: </a:t>
            </a:r>
            <a:r>
              <a:rPr lang="en-US" sz="1200" b="1" dirty="0">
                <a:solidFill>
                  <a:srgbClr val="00D68F"/>
                </a:solidFill>
              </a:rPr>
              <a:t>92.33%  </a:t>
            </a:r>
            <a:r>
              <a:rPr lang="en-US" sz="1000" dirty="0">
                <a:solidFill>
                  <a:srgbClr val="8A9BBD"/>
                </a:solidFill>
              </a:rPr>
              <a:t>at Epoch 26  |  Loss: </a:t>
            </a:r>
            <a:r>
              <a:rPr lang="en-US" sz="1200" b="1" dirty="0">
                <a:solidFill>
                  <a:srgbClr val="00C2FF"/>
                </a:solidFill>
              </a:rPr>
              <a:t>0.1535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4960" y="105156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Training Settings Explained: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94960" y="1444752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68112" y="146304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30 Epochs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68112" y="1627632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Model reads ALL data 30 times to learn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394960" y="1883664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190195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Batch Size: 16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68112" y="2066544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Process 16 images at once (memory balance)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94960" y="2322576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68112" y="23408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Learning Rate: 0.0001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68112" y="2505456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Small careful steps when updating model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394960" y="2761488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68112" y="277977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Early Stopping (7)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68112" y="2944368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Stop if no improvement for 7 epochs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394960" y="3200400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68112" y="32186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CosineAnnealingLR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68112" y="3383280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Learning rate decreases smoothly over time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394960" y="3639312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365760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Gradient Clipping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68112" y="3822192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Prevents model from making huge mistakes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394960" y="4078224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68112" y="409651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WeightedSampler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68112" y="4261104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Balances real vs fake in each batch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394960" y="4517136"/>
            <a:ext cx="3520440" cy="384048"/>
          </a:xfrm>
          <a:prstGeom prst="rect">
            <a:avLst/>
          </a:prstGeom>
          <a:solidFill>
            <a:srgbClr val="162040"/>
          </a:solidFill>
          <a:ln w="12700">
            <a:solidFill>
              <a:srgbClr val="1E3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68112" y="453542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2FF"/>
                </a:solidFill>
              </a:rPr>
              <a:t>Dropout 0.3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468112" y="4700016"/>
            <a:ext cx="33649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D"/>
                </a:solidFill>
              </a:rPr>
              <a:t>Randomly turns off 30% neurons → prevents memorizing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00C2FF"/>
                </a:solidFill>
              </a:rPr>
              <a:t>FINAL RESULTS &amp; EVALUATION METRICS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9BBD"/>
                </a:solidFill>
              </a:rPr>
              <a:t>08 / 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353312" cy="64008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C4"/>
                </a:solidFill>
              </a:rPr>
              <a:t>92.33%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Training 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Best result during training at epoch 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91640" y="1051560"/>
            <a:ext cx="1353312" cy="640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</a:rPr>
              <a:t>86.32%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Test Accuracy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2821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Result on videos model never saw before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051560"/>
            <a:ext cx="1353312" cy="6400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8C42"/>
                </a:solidFill>
              </a:rPr>
              <a:t>91.97%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15468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Precision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9125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When model says FAKE → 92% it is right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51560"/>
            <a:ext cx="1353312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68F"/>
                </a:solidFill>
              </a:rPr>
              <a:t>87.08%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61772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Recall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5429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Model catches 87% of all real fake videos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8076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51560"/>
            <a:ext cx="1353312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FF"/>
                </a:solidFill>
              </a:rPr>
              <a:t>89.46%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8076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F1 Score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1733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Balance between precision and recall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43800" y="1051560"/>
            <a:ext cx="135331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43800" y="1051560"/>
            <a:ext cx="1353312" cy="64008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1115568"/>
            <a:ext cx="135331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C61"/>
                </a:solidFill>
              </a:rPr>
              <a:t>0.9493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543800" y="1682496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AUC-ROC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80376" y="1956816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9BBD"/>
                </a:solidFill>
              </a:rPr>
              <a:t>0.5 = random guess, 1.0 = perfect model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3E"/>
                </a:solidFill>
              </a:rPr>
              <a:t>What Do These Numbers Mean?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28600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3145536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🎯  Accuracy (86.32%)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547872"/>
            <a:ext cx="2633472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Out of 100 videos → model correctly identifies 86 as real or fake. This is very good for deepfake detection!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72968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64408" y="3145536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⚖️  F1 Score (89.46%)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64408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64408" y="3547872"/>
            <a:ext cx="2633472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Combines precision and recall into one number. 89% means the model is well-balanced — not missing fakes or making false alarms.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17336" y="3090672"/>
            <a:ext cx="2816352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208776" y="3145536"/>
            <a:ext cx="26334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📈  AUC-ROC (0.9493)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08776" y="3493008"/>
            <a:ext cx="2633472" cy="0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08776" y="3547872"/>
            <a:ext cx="2633472" cy="10789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D"/>
                </a:solidFill>
              </a:rPr>
              <a:t>Measures how well the model separates real from fake at ALL thresholds. 0.95 is excellent — close to perfect (1.0).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FF"/>
                </a:solidFill>
              </a:rPr>
              <a:t>These results are above the average of most published deepfake detection research papers (85-93% accuracy range)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4980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TOOLS, DESKTOP APP &amp;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0D0FF"/>
                </a:solidFill>
              </a:rPr>
              <a:t>09 /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" y="105156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FF"/>
                </a:solidFill>
              </a:rPr>
              <a:t>Tools &amp; Libraries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63040"/>
            <a:ext cx="54864" cy="658368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99616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PyTorch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37360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Builds and trains the AI model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463040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463040"/>
            <a:ext cx="54864" cy="658368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499616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EfficientNet-B4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737360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The AI brain — classifies real vs fake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212848"/>
            <a:ext cx="54864" cy="65836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249424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OpenCV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" y="2487168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Detects and crops faces from video frames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212848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2212848"/>
            <a:ext cx="54864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2249424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 (FFT)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2487168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Applies frequency analysis to face images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2962656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962656"/>
            <a:ext cx="54864" cy="658368"/>
          </a:xfrm>
          <a:prstGeom prst="rect">
            <a:avLst/>
          </a:prstGeom>
          <a:solidFill>
            <a:srgbClr val="FF4C61"/>
          </a:solidFill>
          <a:ln w="12700">
            <a:solidFill>
              <a:srgbClr val="FF4C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" y="2999232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Colab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3236976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Free cloud GPU for model training (T4 GPU)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962656"/>
            <a:ext cx="2029968" cy="658368"/>
          </a:xfrm>
          <a:prstGeom prst="rect">
            <a:avLst/>
          </a:prstGeom>
          <a:solidFill>
            <a:srgbClr val="162040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0" y="2962656"/>
            <a:ext cx="54864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2999232"/>
            <a:ext cx="18653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Tkinter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3236976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D"/>
                </a:solidFill>
              </a:rPr>
              <a:t>Builds the desktop application interface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1051560"/>
            <a:ext cx="4224528" cy="2121408"/>
          </a:xfrm>
          <a:prstGeom prst="rect">
            <a:avLst/>
          </a:prstGeom>
          <a:solidFill>
            <a:srgbClr val="080E20"/>
          </a:solidFill>
          <a:ln w="254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1097280"/>
            <a:ext cx="4041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🎬  Desktop Application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73168" y="1463040"/>
            <a:ext cx="3931920" cy="0"/>
          </a:xfrm>
          <a:prstGeom prst="line">
            <a:avLst/>
          </a:prstGeom>
          <a:noFill/>
          <a:ln w="12700">
            <a:solidFill>
              <a:srgbClr val="1A56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527048"/>
            <a:ext cx="4041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📁  Browse any video file from your PC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1911096"/>
            <a:ext cx="4041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🔬  Automatic face detection + FFT preprocessing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2295144"/>
            <a:ext cx="4041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📊  Shows frame-by-frame probability chart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2679192"/>
            <a:ext cx="404164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68F"/>
                </a:solidFill>
              </a:rPr>
              <a:t>✅  Gives REAL / FAKE verdict + confidence score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81728" y="3273552"/>
            <a:ext cx="4224528" cy="1737360"/>
          </a:xfrm>
          <a:prstGeom prst="rect">
            <a:avLst/>
          </a:prstGeom>
          <a:solidFill>
            <a:srgbClr val="1A56C4"/>
          </a:solidFill>
          <a:ln w="12700">
            <a:solidFill>
              <a:srgbClr val="1A56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3328416"/>
            <a:ext cx="404164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🏆  Key Achievements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73168" y="3694176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2FF"/>
                </a:solidFill>
              </a:rPr>
              <a:t>→  92.33% training  |  86.32% test accuracy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394106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→  AUC-ROC = 0.9493 — near-perfect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4187952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→  FFT detects invisible frequency artifacts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4434840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→  Working desktop app for real-world testing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73168" y="4681728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→  Research-quality results on DFD dataset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0E20"/>
          </a:solidFill>
          <a:ln w="12700">
            <a:solidFill>
              <a:srgbClr val="8A9B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D"/>
                </a:solidFill>
              </a:rPr>
              <a:t>Future Work:  Multi-dataset training  ·  LSTM temporal analysis  ·  Vision Transformer (ViT)  ·  Web application deployment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6537</Words>
  <Application>WPS Presentation</Application>
  <PresentationFormat>On-screen Show (16:9)</PresentationFormat>
  <Paragraphs>410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Video Detection</dc:title>
  <dc:creator>PptxGenJS</dc:creator>
  <dc:subject>PptxGenJS Presentation</dc:subject>
  <cp:lastModifiedBy>9rulZ_Gamers killer</cp:lastModifiedBy>
  <cp:revision>2</cp:revision>
  <dcterms:created xsi:type="dcterms:W3CDTF">2026-05-13T15:46:00Z</dcterms:created>
  <dcterms:modified xsi:type="dcterms:W3CDTF">2026-05-16T12:01:19Z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7072B3DB04F0464FABA796F0402BE96D_12</vt:lpwstr>
  </property>
  <property fmtid="{D5CDD505-2E9C-101B-9397-08002B2CF9AE}" pid="3" name="KSOProductBuildVer">
    <vt:lpwstr>2057-12.2.0.23202</vt:lpwstr>
  </property>
</Properties>
</file>