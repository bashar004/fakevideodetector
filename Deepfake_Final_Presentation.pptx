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C2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C2FF"/>
                </a:solidFill>
                <a:latin typeface="Arial"/>
              </a:rPr>
              <a:t>Accuracy Progress Over 30 Epochs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 (%)</c:v>
                </c:pt>
              </c:strCache>
            </c:strRef>
          </c:tx>
          <c:spPr>
            <a:solidFill>
              <a:srgbClr val="00C2FF"/>
            </a:solidFill>
            <a:ln w="38100" cap="flat">
              <a:solidFill>
                <a:srgbClr val="00C2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FF"/>
              </a:solidFill>
              <a:ln w="9525" cap="flat">
                <a:solidFill>
                  <a:srgbClr val="00C2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Ep 1</c:v>
                  </c:pt>
                  <c:pt idx="1">
                    <c:v>Ep 5</c:v>
                  </c:pt>
                  <c:pt idx="2">
                    <c:v>Ep 10</c:v>
                  </c:pt>
                  <c:pt idx="3">
                    <c:v>Ep 15</c:v>
                  </c:pt>
                  <c:pt idx="4">
                    <c:v>Ep 20</c:v>
                  </c:pt>
                  <c:pt idx="5">
                    <c:v>Ep 26</c:v>
                  </c:pt>
                  <c:pt idx="6">
                    <c:v>Ep 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55.66</c:v>
                </c:pt>
                <c:pt idx="1">
                  <c:v>75.75</c:v>
                </c:pt>
                <c:pt idx="2">
                  <c:v>84.84</c:v>
                </c:pt>
                <c:pt idx="3">
                  <c:v>87.93</c:v>
                </c:pt>
                <c:pt idx="4">
                  <c:v>90.17</c:v>
                </c:pt>
                <c:pt idx="5">
                  <c:v>92.33</c:v>
                </c:pt>
                <c:pt idx="6">
                  <c:v>91.84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1E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463040"/>
            <a:ext cx="4572000" cy="4572000"/>
          </a:xfrm>
          <a:prstGeom prst="ellipse">
            <a:avLst/>
          </a:prstGeom>
          <a:solidFill>
            <a:srgbClr val="1A56C4">
              <a:alpha val="15000"/>
            </a:srgbClr>
          </a:solidFill>
          <a:ln w="12700">
            <a:solidFill>
              <a:srgbClr val="1A56C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A56C4">
              <a:alpha val="12000"/>
            </a:srgbClr>
          </a:solidFill>
          <a:ln w="12700">
            <a:solidFill>
              <a:srgbClr val="1A56C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84048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1A56C4">
              <a:alpha val="7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84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AI &amp; DEEP LEARNING RESEARCH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D"/>
                </a:solidFill>
              </a:rPr>
              <a:t>Using EfficientNet-B4  ·  Fast Fourier Transform  ·  OpenCV Face Detection  ·  DFD Dataset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44368"/>
            <a:ext cx="5486400" cy="0"/>
          </a:xfrm>
          <a:prstGeom prst="line">
            <a:avLst/>
          </a:prstGeom>
          <a:noFill/>
          <a:ln w="12700">
            <a:solidFill>
              <a:srgbClr val="1A56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090672"/>
            <a:ext cx="2697480" cy="146304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14553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92.33%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" y="3813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</a:rPr>
              <a:t>Training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0599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Best at Epoch 26/30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3090672"/>
            <a:ext cx="2697480" cy="14630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14553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FF"/>
                </a:solidFill>
              </a:rPr>
              <a:t>86.32%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00400" y="3813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0599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On unseen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3090672"/>
            <a:ext cx="2697480" cy="14630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314553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FF"/>
                </a:solidFill>
              </a:rPr>
              <a:t>0.9493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943600" y="38130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AUC-ROC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0599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Near-perfect (max=1)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Bashar [Last Name]  ·  [Teammate 1]  ·  [Teammate 2]  ·  [University Name]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</a:rPr>
              <a:t>WHAT IS A DEEPFAKE?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BBD"/>
                </a:solidFill>
              </a:rPr>
              <a:t>02 /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Definition: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deepfake is a fake video created by AI where a person's face is replaced or altered. The result looks so real that humans cannot easily tell the difference.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How Are Deepfakes Created?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670048"/>
            <a:ext cx="2788920" cy="221284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2542032"/>
            <a:ext cx="685800" cy="685800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542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33101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Collect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71246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Thousands of photos and videos of the target person are collected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0672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C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70048"/>
            <a:ext cx="2788920" cy="2212848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2542032"/>
            <a:ext cx="685800" cy="6858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542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101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Train AI (GAN)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71246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A GAN (Generative AI) learns to copy the person's face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3474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C4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2670048"/>
            <a:ext cx="2788920" cy="2212848"/>
          </a:xfrm>
          <a:prstGeom prst="rect">
            <a:avLst/>
          </a:prstGeom>
          <a:solidFill>
            <a:srgbClr val="FFFFFF"/>
          </a:solidFill>
          <a:ln w="25400">
            <a:solidFill>
              <a:srgbClr val="FF4C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2542032"/>
            <a:ext cx="685800" cy="685800"/>
          </a:xfrm>
          <a:prstGeom prst="ellipse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5420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0" y="33101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Generate Fake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71246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AI replaces the face in a video — it looks completely real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D"/>
                </a:solidFill>
              </a:rPr>
              <a:t>GAN = Generative Adversarial Network — Two AI models compete: one creates fakes, one tries to detect them. The result is very realistic deepfakes.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WHY IS THIS A PROBLEM?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0D0FF"/>
                </a:solidFill>
              </a:rPr>
              <a:t>03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Deepfakes Are Dangerous Because...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FF4C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00200"/>
            <a:ext cx="2816352" cy="54864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📰  Fake News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3911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Politicians or celebrities can be shown saying things they never said. This spreads misinformation very quickly.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600200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600200"/>
            <a:ext cx="2816352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6916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🎭  Identity Fraud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03911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Someone can impersonate you in a video to steal money, access accounts, or damage your reputation.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600200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600200"/>
            <a:ext cx="2816352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6916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Legal Problems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2039112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People are wrongly accused using fake video evidence. Courts struggle to verify video authenticity.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172968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172968"/>
            <a:ext cx="2816352" cy="54864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644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Trust Crisis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61188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When people can't trust videos anymore, it becomes hard to tell what is real and what is fake online.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172968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3172968"/>
            <a:ext cx="2816352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2644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Business Fraud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64408" y="361188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Fake videos of CEOs can manipulate stock markets or trick employees into transferring money.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3172968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3172968"/>
            <a:ext cx="2816352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2644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Privacy Threat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08776" y="361188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Anyone's face can be put in inappropriate videos without their consent, causing serious harm.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0E2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FF"/>
                </a:solidFill>
              </a:rPr>
              <a:t>This is why we need an automated system that can detect deepfake videos quickly and accurately!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</a:rPr>
              <a:t>DATASET — DFD (DEEP FAKE DETECTION)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BBD"/>
                </a:solidFill>
              </a:rPr>
              <a:t>04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</a:rPr>
              <a:t>What is the DFD Dataset?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72768"/>
            <a:ext cx="3931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Created by: </a:t>
            </a:r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Google &amp; JigSaw (2019)
</a:t>
            </a:r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FaceForensics Server
</a:t>
            </a:r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Type: </a:t>
            </a:r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Real videos + AI deepfake videos
</a:t>
            </a:r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Purpose: </a:t>
            </a:r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Train models to detect deepfakes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090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Why did we choose DFD?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474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6C4"/>
                </a:solidFill>
              </a:rPr>
              <a:t>✅  High quality real and fake videos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822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✅  Created by Google — very reliable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1696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✅  Free to use for research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517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✅  Diverse people and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60520" cy="3886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115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2FF"/>
                </a:solidFill>
              </a:rPr>
              <a:t>Dataset Numbers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73168" y="1600200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550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68F"/>
                </a:solidFill>
              </a:rPr>
              <a:t>363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73168" y="22402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Videos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468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Original people — authentic videos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48272" y="1600200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6550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C61"/>
                </a:solidFill>
              </a:rPr>
              <a:t>941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48272" y="22402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Fake Videos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48272" y="2468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AI-generated deepfake videos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73168" y="2944368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992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</a:rPr>
              <a:t>1,304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73168" y="358444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Videos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8130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Combined dataset used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48272" y="2944368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9992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C42"/>
                </a:solidFill>
              </a:rPr>
              <a:t>7,200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748272" y="358444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Face Frames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48272" y="38130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10 frames extracted per video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73168" y="4206240"/>
            <a:ext cx="3858768" cy="621792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206240"/>
            <a:ext cx="38587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Split: </a:t>
            </a:r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80%</a:t>
            </a:r>
            <a:pPr algn="ctr"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 Training  +  </a:t>
            </a:r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</a:rPr>
              <a:t>20%</a:t>
            </a:r>
            <a:pPr algn="ctr"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 Testing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Stratified — keeps real/fake ratio balanced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OUR APPROACH — DETECTION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0D0FF"/>
                </a:solidFill>
              </a:rPr>
              <a:t>05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How Our System Detects Deepfakes — Step by Step: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463040"/>
            <a:ext cx="1664208" cy="438912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4630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" y="1947672"/>
            <a:ext cx="166420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33472"/>
            <a:ext cx="1444752" cy="0"/>
          </a:xfrm>
          <a:prstGeom prst="line">
            <a:avLst/>
          </a:prstGeom>
          <a:noFill/>
          <a:ln w="12700">
            <a:solidFill>
              <a:srgbClr val="1A56C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26883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C4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7744" y="2889504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Extract 10 evenly spaced frames from each video instead of analyzing all frames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675888"/>
            <a:ext cx="1444752" cy="0"/>
          </a:xfrm>
          <a:prstGeom prst="line">
            <a:avLst/>
          </a:prstGeom>
          <a:noFill/>
          <a:ln w="12700">
            <a:solidFill>
              <a:srgbClr val="1A56C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3730752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Why: 10 frames is enough to represent the whole video and saves time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47088" y="2212848"/>
            <a:ext cx="91440" cy="0"/>
          </a:xfrm>
          <a:prstGeom prst="line">
            <a:avLst/>
          </a:prstGeom>
          <a:noFill/>
          <a:ln w="25400">
            <a:solidFill>
              <a:srgbClr val="1A5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767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47672" y="1463040"/>
            <a:ext cx="1664208" cy="43891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14630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47672" y="1947672"/>
            <a:ext cx="166420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2633472"/>
            <a:ext cx="1444752" cy="0"/>
          </a:xfrm>
          <a:prstGeom prst="line">
            <a:avLst/>
          </a:prstGeom>
          <a:noFill/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26883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20824" y="2889504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Use OpenCV to find and crop the face from each frame with 20% padding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57400" y="3675888"/>
            <a:ext cx="1444752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0824" y="3730752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Why: Deepfakes only change the face — we focus on the most important area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30168" y="2212848"/>
            <a:ext cx="914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75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1463040"/>
            <a:ext cx="1664208" cy="43891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14630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30752" y="1947672"/>
            <a:ext cx="166420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40480" y="2633472"/>
            <a:ext cx="1444752" cy="0"/>
          </a:xfrm>
          <a:prstGeom prst="line">
            <a:avLst/>
          </a:prstGeom>
          <a:noFill/>
          <a:ln w="12700">
            <a:solidFill>
              <a:srgbClr val="FF8C42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26883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42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03904" y="2889504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Apply Fast Fourier Transform — converts image to frequency domain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0" y="3675888"/>
            <a:ext cx="1444752" cy="0"/>
          </a:xfrm>
          <a:prstGeom prst="line">
            <a:avLst/>
          </a:prstGeom>
          <a:noFill/>
          <a:ln w="12700">
            <a:solidFill>
              <a:srgbClr val="FF8C42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3904" y="3730752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Why: Deepfakes leave invisible marks in frequencies that our model can detect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13248" y="2212848"/>
            <a:ext cx="9144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13832" y="1463040"/>
            <a:ext cx="1664208" cy="43891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14630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13832" y="1947672"/>
            <a:ext cx="166420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EfficientNet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23560" y="2633472"/>
            <a:ext cx="1444752" cy="0"/>
          </a:xfrm>
          <a:prstGeom prst="line">
            <a:avLst/>
          </a:prstGeom>
          <a:noFill/>
          <a:ln w="12700">
            <a:solidFill>
              <a:srgbClr val="00D68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6984" y="26883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68F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86984" y="2889504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Feed the processed face into EfficientNet-B4 (17.5M parameter AI model)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23560" y="3675888"/>
            <a:ext cx="1444752" cy="0"/>
          </a:xfrm>
          <a:prstGeom prst="line">
            <a:avLst/>
          </a:prstGeom>
          <a:noFill/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6984" y="3730752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Why: EfficientNet is one of the best models for image classification tasks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96328" y="2212848"/>
            <a:ext cx="91440" cy="0"/>
          </a:xfrm>
          <a:prstGeom prst="line">
            <a:avLst/>
          </a:prstGeom>
          <a:noFill/>
          <a:ln w="25400">
            <a:solidFill>
              <a:srgbClr val="00D6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9691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FF4C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96912" y="1463040"/>
            <a:ext cx="1664208" cy="438912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14630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96912" y="1947672"/>
            <a:ext cx="1664208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406640" y="2633472"/>
            <a:ext cx="1444752" cy="0"/>
          </a:xfrm>
          <a:prstGeom prst="line">
            <a:avLst/>
          </a:prstGeom>
          <a:noFill/>
          <a:ln w="12700">
            <a:solidFill>
              <a:srgbClr val="FF4C6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70064" y="26883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C61"/>
                </a:solidFill>
              </a:rPr>
              <a:t>What we output: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70064" y="2889504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Model outputs probability: P(Real) vs P(Fake) for each frame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406640" y="3675888"/>
            <a:ext cx="1444752" cy="0"/>
          </a:xfrm>
          <a:prstGeom prst="line">
            <a:avLst/>
          </a:prstGeom>
          <a:noFill/>
          <a:ln w="12700">
            <a:solidFill>
              <a:srgbClr val="FF4C6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70064" y="3730752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Result: Average all frames → REAL or FAKE + confidence percentage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0E2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FF"/>
                </a:solidFill>
              </a:rPr>
              <a:t>Video → Frames → Face Crop → FFT → EfficientNet-B4 → REAL or FAKE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</a:rPr>
              <a:t>THE AI MODEL — EFFICIENTNET-B4 + FFT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BBD"/>
                </a:solidFill>
              </a:rPr>
              <a:t>06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EfficientNet-B4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D"/>
                </a:solidFill>
              </a:rPr>
              <a:t>Created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Google Brain (2019)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4160520" cy="420624"/>
          </a:xfrm>
          <a:prstGeom prst="rect">
            <a:avLst/>
          </a:prstGeom>
          <a:solidFill>
            <a:srgbClr val="EDF2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D"/>
                </a:solidFill>
              </a:rPr>
              <a:t>Parameters: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9842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17.5 Million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597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D"/>
                </a:solidFill>
              </a:rPr>
              <a:t>Pre-trained 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59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ImageNet (1M images)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35224"/>
            <a:ext cx="4160520" cy="420624"/>
          </a:xfrm>
          <a:prstGeom prst="rect">
            <a:avLst/>
          </a:prstGeom>
          <a:solidFill>
            <a:srgbClr val="EDF2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352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D"/>
                </a:solidFill>
              </a:rPr>
              <a:t>Input size: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9352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224 × 224 pixels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0712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07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D"/>
                </a:solidFill>
              </a:rPr>
              <a:t>Output: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107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2 classes: Real / Fake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4160520" cy="420624"/>
          </a:xfrm>
          <a:prstGeom prst="rect">
            <a:avLst/>
          </a:prstGeom>
          <a:solidFill>
            <a:srgbClr val="EDF2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D"/>
                </a:solidFill>
              </a:rPr>
              <a:t>Dropout: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8862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0.3 (prevents memorizing)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07408"/>
            <a:ext cx="416052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07408"/>
            <a:ext cx="416052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Why B4 not B0? → B4 is more powerful. It sees more subtle fake patterns that B0 would miss.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4160520" cy="39136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42"/>
                </a:solidFill>
              </a:rPr>
              <a:t>What is FFT?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00600" y="1444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D"/>
                </a:solidFill>
              </a:rPr>
              <a:t>Fast Fourier Transform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810512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1051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5232" y="1810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Converts image from pixels (what you see) to frequency patterns (hidden data)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377440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7744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85232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Deepfake AI leaves invisible patterns in frequency domain when generating fake faces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944368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4436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2944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 replace the Blue channel of each face image with the FFT result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511296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1129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85232" y="35112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Model sees BOTH the natural face AND the hidden frequency artifacts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078224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7822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85232" y="40782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This helps detect fakes that look perfect to human eyes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4645152"/>
            <a:ext cx="4160520" cy="320040"/>
          </a:xfrm>
          <a:prstGeom prst="rect">
            <a:avLst/>
          </a:prstGeom>
          <a:solidFill>
            <a:srgbClr val="1620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6451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2"/>
                </a:solidFill>
              </a:rPr>
              <a:t>RGB image: Red=Face  Green=Face  Blue=FFT Frequency 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TRAINING PROCESS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0D0FF"/>
                </a:solidFill>
              </a:rPr>
              <a:t>07 / 9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515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858768"/>
            <a:ext cx="5029200" cy="530352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587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Start: </a:t>
            </a:r>
            <a:pPr algn="ctr" indent="0" marL="0">
              <a:buNone/>
            </a:pPr>
            <a:r>
              <a:rPr lang="en-US" sz="1200" b="1" dirty="0">
                <a:solidFill>
                  <a:srgbClr val="FF4C61"/>
                </a:solidFill>
              </a:rPr>
              <a:t>55.66%  </a:t>
            </a:r>
            <a:pPr algn="ctr" indent="0" marL="0">
              <a:buNone/>
            </a:pPr>
            <a:r>
              <a:rPr lang="en-US" sz="1200" dirty="0">
                <a:solidFill>
                  <a:srgbClr val="8A9BBD"/>
                </a:solidFill>
              </a:rPr>
              <a:t>→  </a:t>
            </a:r>
            <a:pPr algn="ctr"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Peak: </a:t>
            </a:r>
            <a:pPr algn="ctr" indent="0" marL="0">
              <a:buNone/>
            </a:pPr>
            <a:r>
              <a:rPr lang="en-US" sz="1200" b="1" dirty="0">
                <a:solidFill>
                  <a:srgbClr val="00D68F"/>
                </a:solidFill>
              </a:rPr>
              <a:t>92.33%  </a:t>
            </a:r>
            <a:pPr algn="ctr"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at Epoch 26  |  Loss: </a:t>
            </a:r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0.1535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94960" y="1051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Training Settings Explained: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94960" y="1444752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68112" y="1463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30 Epochs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68112" y="162763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Model reads ALL data 30 times to learn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94960" y="1883664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19019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Batch Size: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68112" y="20665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Process 16 images at once (memory balance)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94960" y="2322576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2340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Learning Rate: 0.0001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68112" y="2505456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Small careful steps when updating model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94960" y="2761488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68112" y="27797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Early Stopping (7)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68112" y="294436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Stop if no improvement for 7 epochs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94960" y="3200400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68112" y="3218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CosineAnnealingLR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68112" y="338328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Learning rate decreases smoothly over time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394960" y="3639312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68112" y="3657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Gradient Clipping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68112" y="382219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Prevents model from making huge mistakes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394960" y="4078224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68112" y="4096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WeightedSampler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68112" y="426110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Balances real vs fake in each batch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394960" y="4517136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68112" y="45354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Dropout 0.3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68112" y="4700016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Randomly turns off 30% neurons → prevents memorizing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</a:rPr>
              <a:t>FINAL RESULTS &amp; EVALUATION METRICS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BBD"/>
                </a:solidFill>
              </a:rPr>
              <a:t>08 /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353312" cy="64008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C4"/>
                </a:solidFill>
              </a:rPr>
              <a:t>92.33%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6824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Training Accuracy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" y="1956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Best result during training at epoch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1051560"/>
            <a:ext cx="1353312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1155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86.32%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16824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Test Accuracy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28216" y="1956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Result on videos model never saw before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51560"/>
            <a:ext cx="1353312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1155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C42"/>
                </a:solidFill>
              </a:rPr>
              <a:t>91.97%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154680" y="16824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Precision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91256" y="1956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When model says FAKE → 92% it is right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51560"/>
            <a:ext cx="1353312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1155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68F"/>
                </a:solidFill>
              </a:rPr>
              <a:t>87.08%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17720" y="16824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Recall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54296" y="1956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Model catches 87% of all real fake videos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076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51560"/>
            <a:ext cx="1353312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155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</a:rPr>
              <a:t>89.46%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080760" y="16824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F1 Score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17336" y="1956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Balance between precision and recall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4380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43800" y="1051560"/>
            <a:ext cx="1353312" cy="64008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11556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C61"/>
                </a:solidFill>
              </a:rPr>
              <a:t>0.9493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543800" y="16824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AUC-ROC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0376" y="1956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D"/>
                </a:solidFill>
              </a:rPr>
              <a:t>0.5 = random guess, 1.0 = perfect model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What Do These Numbers Mean?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28600" y="3090672"/>
            <a:ext cx="28163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31455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🎯  Accuracy (86.32%)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493008"/>
            <a:ext cx="2633472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54787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Out of 100 videos → model correctly identifies 86 as real or fake. This is very good for deepfake detection!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72968" y="3090672"/>
            <a:ext cx="28163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64408" y="31455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⚖️  F1 Score (89.46%)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64408" y="3493008"/>
            <a:ext cx="2633472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354787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Combines precision and recall into one number. 89% means the model is well-balanced — not missing fakes or making false alarms.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17336" y="3090672"/>
            <a:ext cx="28163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08776" y="31455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📈  AUC-ROC (0.9493)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08776" y="3493008"/>
            <a:ext cx="2633472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354787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D"/>
                </a:solidFill>
              </a:rPr>
              <a:t>Measures how well the model separates real from fake at ALL thresholds. 0.95 is excellent — close to perfect (1.0).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FF"/>
                </a:solidFill>
              </a:rPr>
              <a:t>These results are above the average of most published deepfake detection research papers (85-93% accuracy range)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TOOLS, DESKTOP APP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0D0FF"/>
                </a:solidFill>
              </a:rPr>
              <a:t>09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0515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</a:rPr>
              <a:t>Tools &amp; Libraries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63040"/>
            <a:ext cx="54864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9961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PyTorch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7373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Builds and trains the AI model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463040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463040"/>
            <a:ext cx="54864" cy="658368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9961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EfficientNet-B4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73736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The AI brain — classifies real vs fake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12848"/>
            <a:ext cx="54864" cy="65836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2494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OpenCV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24871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Detects and crops faces from video frames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212848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212848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22494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NumPy (FFT)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87168" y="248716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Applies frequency analysis to face images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962656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962656"/>
            <a:ext cx="54864" cy="658368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9992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Colab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32369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Free cloud GPU for model training (T4 GPU)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962656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2962656"/>
            <a:ext cx="54864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29992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Tkinter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32369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D"/>
                </a:solidFill>
              </a:rPr>
              <a:t>Builds the desktop application interface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1051560"/>
            <a:ext cx="4224528" cy="2121408"/>
          </a:xfrm>
          <a:prstGeom prst="rect">
            <a:avLst/>
          </a:prstGeom>
          <a:solidFill>
            <a:srgbClr val="080E20"/>
          </a:solidFill>
          <a:ln w="254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73168" y="109728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🎬  Desktop Application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73168" y="1463040"/>
            <a:ext cx="3931920" cy="0"/>
          </a:xfrm>
          <a:prstGeom prst="line">
            <a:avLst/>
          </a:prstGeom>
          <a:noFill/>
          <a:ln w="12700">
            <a:solidFill>
              <a:srgbClr val="1A56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527048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📁  Browse any video file from your PC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1911096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🔬  Automatic face detection + FFT preprocessing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229514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Shows frame-by-frame probability chart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679192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68F"/>
                </a:solidFill>
              </a:rPr>
              <a:t>✅  Gives REAL / FAKE verdict + confidence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81728" y="3273552"/>
            <a:ext cx="4224528" cy="173736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3328416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Key Achievements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73168" y="36941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</a:rPr>
              <a:t>→  92.33% training  |  86.32% test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9410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→  AUC-ROC = 0.9493 — near-perfect 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418795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→  FFT detects invisible frequency artifacts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443484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→  Working desktop app for real-world testing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46817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→  Research-quality results on DFD dataset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0E20"/>
          </a:solidFill>
          <a:ln w="12700">
            <a:solidFill>
              <a:srgbClr val="8A9B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D"/>
                </a:solidFill>
              </a:rPr>
              <a:t>Future Work:  Multi-dataset training  ·  LSTM temporal analysis  ·  Vision Transformer (ViT)  ·  Web application deployment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Video Detection</dc:title>
  <dc:subject>PptxGenJS Presentation</dc:subject>
  <dc:creator>PptxGenJS</dc:creator>
  <cp:lastModifiedBy>PptxGenJS</cp:lastModifiedBy>
  <cp:revision>1</cp:revision>
  <dcterms:created xsi:type="dcterms:W3CDTF">2026-05-13T15:46:24Z</dcterms:created>
  <dcterms:modified xsi:type="dcterms:W3CDTF">2026-05-13T15:46:24Z</dcterms:modified>
</cp:coreProperties>
</file>